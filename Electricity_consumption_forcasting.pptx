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
      <p:font typeface="Nunito"/>
      <p:regular r:id="rId24"/>
      <p:bold r:id="rId25"/>
      <p:italic r:id="rId26"/>
      <p:boldItalic r:id="rId27"/>
    </p:embeddedFont>
    <p:embeddedFont>
      <p:font typeface="Montserrat"/>
      <p:regular r:id="rId28"/>
      <p:bold r:id="rId29"/>
      <p:italic r:id="rId30"/>
      <p:boldItalic r:id="rId31"/>
    </p:embeddedFont>
    <p:embeddedFont>
      <p:font typeface="Maven Pro"/>
      <p:regular r:id="rId32"/>
      <p:bold r:id="rId33"/>
    </p:embeddedFont>
    <p:embeddedFont>
      <p:font typeface="Maven Pro ExtraBold"/>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643F25-7898-4479-98EB-2BFB7832F18D}">
  <a:tblStyle styleId="{C2643F25-7898-4479-98EB-2BFB7832F1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Nunito-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ontserrat-regular.fntdata"/><Relationship Id="rId27" Type="http://schemas.openxmlformats.org/officeDocument/2006/relationships/font" Target="fonts/Nuni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5.xml"/><Relationship Id="rId33" Type="http://schemas.openxmlformats.org/officeDocument/2006/relationships/font" Target="fonts/MavenPro-bold.fntdata"/><Relationship Id="rId10" Type="http://schemas.openxmlformats.org/officeDocument/2006/relationships/slide" Target="slides/slide4.xml"/><Relationship Id="rId32" Type="http://schemas.openxmlformats.org/officeDocument/2006/relationships/font" Target="fonts/MavenPro-regular.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MavenProExtraBol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d9c45342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d9c45342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e9090756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e9090756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91e1f37e_1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d91e1f37e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d91e1f3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d91e1f3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e9090756a_1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e9090756a_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e9090756a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e9090756a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7fae808d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47fae808d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e9090756a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e9090756a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d933c8c4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d933c8c4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d5b09a965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d5b09a965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7fae808d6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7fae808d6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47fae808d6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47fae808d6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7fae808d6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7fae808d6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90525" y="1954525"/>
            <a:ext cx="8222100" cy="695400"/>
          </a:xfrm>
          <a:prstGeom prst="rect">
            <a:avLst/>
          </a:prstGeom>
        </p:spPr>
        <p:txBody>
          <a:bodyPr anchorCtr="0" anchor="ctr" bIns="91425" lIns="91425" spcFirstLastPara="1" rIns="91425" wrap="square" tIns="91425">
            <a:normAutofit fontScale="90000"/>
          </a:bodyPr>
          <a:lstStyle/>
          <a:p>
            <a:pPr indent="0" lvl="0" marL="0" rtl="0" algn="ctr">
              <a:lnSpc>
                <a:spcPct val="115000"/>
              </a:lnSpc>
              <a:spcBef>
                <a:spcPts val="1200"/>
              </a:spcBef>
              <a:spcAft>
                <a:spcPts val="1200"/>
              </a:spcAft>
              <a:buNone/>
            </a:pPr>
            <a:r>
              <a:rPr b="1" lang="en"/>
              <a:t>Electricity Consumption Forecasting</a:t>
            </a:r>
            <a:endParaRPr b="1"/>
          </a:p>
        </p:txBody>
      </p:sp>
      <p:sp>
        <p:nvSpPr>
          <p:cNvPr id="278" name="Google Shape;278;p13"/>
          <p:cNvSpPr txBox="1"/>
          <p:nvPr>
            <p:ph idx="1" type="subTitle"/>
          </p:nvPr>
        </p:nvSpPr>
        <p:spPr>
          <a:xfrm>
            <a:off x="2634925" y="2866900"/>
            <a:ext cx="4255500" cy="1048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0"/>
              </a:spcAft>
              <a:buNone/>
            </a:pPr>
            <a:r>
              <a:rPr b="1" lang="en" sz="1800"/>
              <a:t>Time Series Analysis Using SARIMA</a:t>
            </a:r>
            <a:endParaRPr b="1" sz="1800"/>
          </a:p>
          <a:p>
            <a:pPr indent="0" lvl="0" marL="0" rtl="0" algn="ctr">
              <a:lnSpc>
                <a:spcPct val="115000"/>
              </a:lnSpc>
              <a:spcBef>
                <a:spcPts val="1200"/>
              </a:spcBef>
              <a:spcAft>
                <a:spcPts val="1200"/>
              </a:spcAft>
              <a:buNone/>
            </a:pPr>
            <a:r>
              <a:rPr b="1" lang="en" sz="1400"/>
              <a:t>By Dhwani Zala</a:t>
            </a:r>
            <a:endParaRPr b="1"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14"/>
          <p:cNvPicPr preferRelativeResize="0"/>
          <p:nvPr/>
        </p:nvPicPr>
        <p:blipFill rotWithShape="1">
          <a:blip r:embed="rId3">
            <a:alphaModFix/>
          </a:blip>
          <a:srcRect b="0" l="7783" r="0" t="0"/>
          <a:stretch/>
        </p:blipFill>
        <p:spPr>
          <a:xfrm>
            <a:off x="150" y="0"/>
            <a:ext cx="9144000" cy="5143500"/>
          </a:xfrm>
          <a:prstGeom prst="rect">
            <a:avLst/>
          </a:prstGeom>
          <a:noFill/>
          <a:ln>
            <a:noFill/>
          </a:ln>
        </p:spPr>
      </p:pic>
      <p:sp>
        <p:nvSpPr>
          <p:cNvPr id="284" name="Google Shape;284;p14"/>
          <p:cNvSpPr txBox="1"/>
          <p:nvPr>
            <p:ph type="title"/>
          </p:nvPr>
        </p:nvSpPr>
        <p:spPr>
          <a:xfrm>
            <a:off x="824000" y="763600"/>
            <a:ext cx="5857800" cy="1014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000"/>
              <a:t>Problem Statement</a:t>
            </a:r>
            <a:endParaRPr sz="3000"/>
          </a:p>
        </p:txBody>
      </p:sp>
      <p:sp>
        <p:nvSpPr>
          <p:cNvPr id="285" name="Google Shape;285;p14"/>
          <p:cNvSpPr txBox="1"/>
          <p:nvPr/>
        </p:nvSpPr>
        <p:spPr>
          <a:xfrm>
            <a:off x="1028700" y="1778175"/>
            <a:ext cx="6965700" cy="1234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lt1"/>
              </a:buClr>
              <a:buSzPts val="1600"/>
              <a:buFont typeface="Nunito"/>
              <a:buChar char="●"/>
            </a:pPr>
            <a:r>
              <a:rPr lang="en" sz="1600">
                <a:solidFill>
                  <a:schemeClr val="lt1"/>
                </a:solidFill>
                <a:latin typeface="Nunito"/>
                <a:ea typeface="Nunito"/>
                <a:cs typeface="Nunito"/>
                <a:sym typeface="Nunito"/>
              </a:rPr>
              <a:t>Energy demand fluctuates, leading to inefficiencies.</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Forecasting demand helps in resource planning and cost reduction.</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Objective: Build a model to predict electricity consumption.</a:t>
            </a:r>
            <a:endParaRPr sz="1600">
              <a:solidFill>
                <a:schemeClr val="lt1"/>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t/>
            </a:r>
            <a:endParaRPr sz="13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Dataset Overview</a:t>
            </a:r>
            <a:endParaRPr sz="3000"/>
          </a:p>
        </p:txBody>
      </p:sp>
      <p:sp>
        <p:nvSpPr>
          <p:cNvPr id="291" name="Google Shape;291;p1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Timeframe: 5-minute intervals of electricity usage 2021-2024 year data.</a:t>
            </a:r>
            <a:endParaRPr sz="1800"/>
          </a:p>
          <a:p>
            <a:pPr indent="-342900" lvl="0" marL="457200" rtl="0" algn="l">
              <a:spcBef>
                <a:spcPts val="0"/>
              </a:spcBef>
              <a:spcAft>
                <a:spcPts val="0"/>
              </a:spcAft>
              <a:buSzPts val="1800"/>
              <a:buChar char="●"/>
            </a:pPr>
            <a:r>
              <a:rPr lang="en" sz="1800"/>
              <a:t>Features: Temperature, humidity, wind speed, pressure.</a:t>
            </a:r>
            <a:endParaRPr sz="1800"/>
          </a:p>
          <a:p>
            <a:pPr indent="-342900" lvl="0" marL="457200" rtl="0" algn="l">
              <a:spcBef>
                <a:spcPts val="0"/>
              </a:spcBef>
              <a:spcAft>
                <a:spcPts val="0"/>
              </a:spcAft>
              <a:buSzPts val="1800"/>
              <a:buChar char="●"/>
            </a:pPr>
            <a:r>
              <a:rPr lang="en" sz="1800"/>
              <a:t>Source: Kaggle dataset.</a:t>
            </a:r>
            <a:endParaRPr sz="1800"/>
          </a:p>
        </p:txBody>
      </p:sp>
      <p:graphicFrame>
        <p:nvGraphicFramePr>
          <p:cNvPr id="292" name="Google Shape;292;p15"/>
          <p:cNvGraphicFramePr/>
          <p:nvPr/>
        </p:nvGraphicFramePr>
        <p:xfrm>
          <a:off x="5071481" y="4552231"/>
          <a:ext cx="3000000" cy="3000000"/>
        </p:xfrm>
        <a:graphic>
          <a:graphicData uri="http://schemas.openxmlformats.org/drawingml/2006/table">
            <a:tbl>
              <a:tblPr>
                <a:noFill/>
                <a:tableStyleId>{C2643F25-7898-4479-98EB-2BFB7832F18D}</a:tableStyleId>
              </a:tblPr>
              <a:tblGrid>
                <a:gridCol w="821450"/>
                <a:gridCol w="821450"/>
                <a:gridCol w="821450"/>
                <a:gridCol w="821450"/>
              </a:tblGrid>
              <a:tr h="241650">
                <a:tc>
                  <a:txBody>
                    <a:bodyPr/>
                    <a:lstStyle/>
                    <a:p>
                      <a:pPr indent="0" lvl="0" marL="0" rtl="0" algn="l">
                        <a:lnSpc>
                          <a:spcPct val="115000"/>
                        </a:lnSpc>
                        <a:spcBef>
                          <a:spcPts val="0"/>
                        </a:spcBef>
                        <a:spcAft>
                          <a:spcPts val="0"/>
                        </a:spcAft>
                        <a:buNone/>
                      </a:pPr>
                      <a:r>
                        <a:rPr b="1" lang="en">
                          <a:solidFill>
                            <a:schemeClr val="lt2"/>
                          </a:solidFill>
                          <a:latin typeface="Roboto"/>
                          <a:ea typeface="Roboto"/>
                          <a:cs typeface="Roboto"/>
                          <a:sym typeface="Roboto"/>
                        </a:rPr>
                        <a:t>20XX</a:t>
                      </a:r>
                      <a:endParaRPr b="1">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lt2"/>
                          </a:solidFill>
                          <a:latin typeface="Roboto"/>
                          <a:ea typeface="Roboto"/>
                          <a:cs typeface="Roboto"/>
                          <a:sym typeface="Roboto"/>
                        </a:rPr>
                        <a:t>20XX</a:t>
                      </a:r>
                      <a:endParaRPr b="1">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lt2"/>
                          </a:solidFill>
                          <a:latin typeface="Roboto"/>
                          <a:ea typeface="Roboto"/>
                          <a:cs typeface="Roboto"/>
                          <a:sym typeface="Roboto"/>
                        </a:rPr>
                        <a:t>20XX</a:t>
                      </a:r>
                      <a:endParaRPr b="1">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lt2"/>
                          </a:solidFill>
                          <a:latin typeface="Roboto"/>
                          <a:ea typeface="Roboto"/>
                          <a:cs typeface="Roboto"/>
                          <a:sym typeface="Roboto"/>
                        </a:rPr>
                        <a:t>20XX</a:t>
                      </a:r>
                      <a:endParaRPr b="1">
                        <a:solidFill>
                          <a:schemeClr val="l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93" name="Google Shape;293;p15"/>
          <p:cNvSpPr/>
          <p:nvPr/>
        </p:nvSpPr>
        <p:spPr>
          <a:xfrm>
            <a:off x="5154825" y="3536048"/>
            <a:ext cx="722400" cy="990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5975583" y="3069166"/>
            <a:ext cx="722400" cy="145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6796341" y="1919075"/>
            <a:ext cx="722400" cy="2607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7617100" y="2163901"/>
            <a:ext cx="722400" cy="23631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cxnSp>
        <p:nvCxnSpPr>
          <p:cNvPr id="297" name="Google Shape;297;p15"/>
          <p:cNvCxnSpPr/>
          <p:nvPr/>
        </p:nvCxnSpPr>
        <p:spPr>
          <a:xfrm rot="10800000">
            <a:off x="509400" y="4552050"/>
            <a:ext cx="8147100" cy="0"/>
          </a:xfrm>
          <a:prstGeom prst="straightConnector1">
            <a:avLst/>
          </a:prstGeom>
          <a:noFill/>
          <a:ln cap="flat" cmpd="sng" w="19050">
            <a:solidFill>
              <a:schemeClr val="dk1"/>
            </a:solidFill>
            <a:prstDash val="dot"/>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Closeup from the side of a hand pushing a knob on an audio mixer" id="302" name="Google Shape;302;p16"/>
          <p:cNvPicPr preferRelativeResize="0"/>
          <p:nvPr/>
        </p:nvPicPr>
        <p:blipFill rotWithShape="1">
          <a:blip r:embed="rId3">
            <a:alphaModFix/>
          </a:blip>
          <a:srcRect b="15419" l="7506" r="42247" t="0"/>
          <a:stretch/>
        </p:blipFill>
        <p:spPr>
          <a:xfrm>
            <a:off x="-9150" y="0"/>
            <a:ext cx="4594498" cy="5143501"/>
          </a:xfrm>
          <a:prstGeom prst="rect">
            <a:avLst/>
          </a:prstGeom>
          <a:noFill/>
          <a:ln>
            <a:noFill/>
          </a:ln>
        </p:spPr>
      </p:pic>
      <p:sp>
        <p:nvSpPr>
          <p:cNvPr id="303" name="Google Shape;303;p16"/>
          <p:cNvSpPr txBox="1"/>
          <p:nvPr>
            <p:ph type="title"/>
          </p:nvPr>
        </p:nvSpPr>
        <p:spPr>
          <a:xfrm>
            <a:off x="265500" y="1830600"/>
            <a:ext cx="4045200" cy="148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lt1"/>
                </a:solidFill>
              </a:rPr>
              <a:t>Data Preprocessing</a:t>
            </a:r>
            <a:endParaRPr>
              <a:solidFill>
                <a:schemeClr val="lt1"/>
              </a:solidFill>
            </a:endParaRPr>
          </a:p>
        </p:txBody>
      </p:sp>
      <p:sp>
        <p:nvSpPr>
          <p:cNvPr id="304" name="Google Shape;304;p16"/>
          <p:cNvSpPr txBox="1"/>
          <p:nvPr>
            <p:ph idx="2" type="body"/>
          </p:nvPr>
        </p:nvSpPr>
        <p:spPr>
          <a:xfrm>
            <a:off x="4903700" y="661000"/>
            <a:ext cx="3430500" cy="3870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sz="1800"/>
              <a:t>Handling Missing Values</a:t>
            </a:r>
            <a:r>
              <a:rPr lang="en" sz="1800"/>
              <a:t> – Used interpolation and forward-filling.</a:t>
            </a:r>
            <a:endParaRPr sz="1800"/>
          </a:p>
          <a:p>
            <a:pPr indent="-342900" lvl="0" marL="457200" rtl="0" algn="l">
              <a:spcBef>
                <a:spcPts val="0"/>
              </a:spcBef>
              <a:spcAft>
                <a:spcPts val="0"/>
              </a:spcAft>
              <a:buSzPts val="1800"/>
              <a:buChar char="●"/>
            </a:pPr>
            <a:r>
              <a:rPr b="1" lang="en" sz="1800"/>
              <a:t>Renaming Columns</a:t>
            </a:r>
            <a:r>
              <a:rPr lang="en" sz="1800"/>
              <a:t> – Standardized names for clarity.</a:t>
            </a:r>
            <a:endParaRPr sz="1800"/>
          </a:p>
          <a:p>
            <a:pPr indent="-342900" lvl="0" marL="457200" rtl="0" algn="l">
              <a:spcBef>
                <a:spcPts val="0"/>
              </a:spcBef>
              <a:spcAft>
                <a:spcPts val="0"/>
              </a:spcAft>
              <a:buSzPts val="1800"/>
              <a:buChar char="●"/>
            </a:pPr>
            <a:r>
              <a:rPr b="1" lang="en" sz="1800"/>
              <a:t>Resampling Data</a:t>
            </a:r>
            <a:r>
              <a:rPr lang="en" sz="1800"/>
              <a:t> – Converted 5-minute data into daily summaries.</a:t>
            </a:r>
            <a:endParaRPr sz="1800"/>
          </a:p>
          <a:p>
            <a:pPr indent="-342900" lvl="0" marL="457200" rtl="0" algn="l">
              <a:spcBef>
                <a:spcPts val="0"/>
              </a:spcBef>
              <a:spcAft>
                <a:spcPts val="0"/>
              </a:spcAft>
              <a:buSzPts val="1800"/>
              <a:buChar char="●"/>
            </a:pPr>
            <a:r>
              <a:rPr b="1" lang="en" sz="1800"/>
              <a:t>Datetime Indexing</a:t>
            </a:r>
            <a:r>
              <a:rPr lang="en" sz="1800"/>
              <a:t> – Set timestamp as index for time series analysis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1369650" y="434125"/>
            <a:ext cx="62721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Power Demand Over Time</a:t>
            </a:r>
            <a:endParaRPr sz="3000"/>
          </a:p>
        </p:txBody>
      </p:sp>
      <p:sp>
        <p:nvSpPr>
          <p:cNvPr id="310" name="Google Shape;310;p17"/>
          <p:cNvSpPr txBox="1"/>
          <p:nvPr/>
        </p:nvSpPr>
        <p:spPr>
          <a:xfrm>
            <a:off x="4768875" y="1595100"/>
            <a:ext cx="4119900" cy="3166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000"/>
              </a:spcAft>
              <a:buNone/>
            </a:pPr>
            <a:r>
              <a:rPr lang="en" sz="1600">
                <a:solidFill>
                  <a:srgbClr val="FAFAFA"/>
                </a:solidFill>
                <a:latin typeface="Roboto"/>
                <a:ea typeface="Roboto"/>
                <a:cs typeface="Roboto"/>
                <a:sym typeface="Roboto"/>
              </a:rPr>
              <a:t>The daily power demand (2021-2024) shows significant fluctuations with noticeable seasonal patterns. There are recurring peaks and troughs, indicating periodic demand changes. The data exhibits high volatility, with sudden drops that might suggest missing values or reporting inconsistencies. Despite fluctuations, the overall demand trend appears to be increasing, especially in mid-2022 and early 2024.</a:t>
            </a:r>
            <a:endParaRPr sz="1600">
              <a:solidFill>
                <a:srgbClr val="FAFAFA"/>
              </a:solidFill>
              <a:latin typeface="Roboto"/>
              <a:ea typeface="Roboto"/>
              <a:cs typeface="Roboto"/>
              <a:sym typeface="Roboto"/>
            </a:endParaRPr>
          </a:p>
        </p:txBody>
      </p:sp>
      <p:sp>
        <p:nvSpPr>
          <p:cNvPr id="311" name="Google Shape;311;p17"/>
          <p:cNvSpPr txBox="1"/>
          <p:nvPr/>
        </p:nvSpPr>
        <p:spPr>
          <a:xfrm>
            <a:off x="367400" y="1983925"/>
            <a:ext cx="3673800" cy="22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12" name="Google Shape;312;p17" title="trend.png"/>
          <p:cNvPicPr preferRelativeResize="0"/>
          <p:nvPr/>
        </p:nvPicPr>
        <p:blipFill>
          <a:blip r:embed="rId3">
            <a:alphaModFix/>
          </a:blip>
          <a:stretch>
            <a:fillRect/>
          </a:stretch>
        </p:blipFill>
        <p:spPr>
          <a:xfrm>
            <a:off x="222075" y="1778225"/>
            <a:ext cx="4349925" cy="2439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16" name="Shape 316"/>
        <p:cNvGrpSpPr/>
        <p:nvPr/>
      </p:nvGrpSpPr>
      <p:grpSpPr>
        <a:xfrm>
          <a:off x="0" y="0"/>
          <a:ext cx="0" cy="0"/>
          <a:chOff x="0" y="0"/>
          <a:chExt cx="0" cy="0"/>
        </a:xfrm>
      </p:grpSpPr>
      <p:sp>
        <p:nvSpPr>
          <p:cNvPr id="317" name="Google Shape;317;p18"/>
          <p:cNvSpPr txBox="1"/>
          <p:nvPr>
            <p:ph type="title"/>
          </p:nvPr>
        </p:nvSpPr>
        <p:spPr>
          <a:xfrm>
            <a:off x="1303800" y="598575"/>
            <a:ext cx="7030500" cy="999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000">
                <a:solidFill>
                  <a:schemeClr val="lt1"/>
                </a:solidFill>
              </a:rPr>
              <a:t>Smoothed Daily Power Demand</a:t>
            </a:r>
            <a:endParaRPr sz="3000">
              <a:solidFill>
                <a:schemeClr val="lt1"/>
              </a:solidFill>
            </a:endParaRPr>
          </a:p>
        </p:txBody>
      </p:sp>
      <p:sp>
        <p:nvSpPr>
          <p:cNvPr id="318" name="Google Shape;318;p18"/>
          <p:cNvSpPr txBox="1"/>
          <p:nvPr>
            <p:ph idx="1" type="body"/>
          </p:nvPr>
        </p:nvSpPr>
        <p:spPr>
          <a:xfrm>
            <a:off x="1303800" y="19252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200">
              <a:solidFill>
                <a:schemeClr val="dk2"/>
              </a:solidFill>
            </a:endParaRPr>
          </a:p>
        </p:txBody>
      </p:sp>
      <p:sp>
        <p:nvSpPr>
          <p:cNvPr id="319" name="Google Shape;319;p18"/>
          <p:cNvSpPr txBox="1"/>
          <p:nvPr>
            <p:ph idx="2" type="body"/>
          </p:nvPr>
        </p:nvSpPr>
        <p:spPr>
          <a:xfrm>
            <a:off x="5109525" y="1810975"/>
            <a:ext cx="3430500" cy="2950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600">
                <a:solidFill>
                  <a:schemeClr val="lt1"/>
                </a:solidFill>
              </a:rPr>
              <a:t>The smoothed power demand shows recurring patterns of increase and decrease, indicating seasonal trends. High demand periods are observed in mid-2022 and mid-2024, likely due to seasonal factors affecting electricity usage. The overall trend follows a cyclical pattern</a:t>
            </a:r>
            <a:endParaRPr sz="1600">
              <a:solidFill>
                <a:schemeClr val="lt1"/>
              </a:solidFill>
            </a:endParaRPr>
          </a:p>
        </p:txBody>
      </p:sp>
      <p:pic>
        <p:nvPicPr>
          <p:cNvPr id="320" name="Google Shape;320;p18" title="spiky.png"/>
          <p:cNvPicPr preferRelativeResize="0"/>
          <p:nvPr/>
        </p:nvPicPr>
        <p:blipFill>
          <a:blip r:embed="rId3">
            <a:alphaModFix/>
          </a:blip>
          <a:stretch>
            <a:fillRect/>
          </a:stretch>
        </p:blipFill>
        <p:spPr>
          <a:xfrm>
            <a:off x="529700" y="1868123"/>
            <a:ext cx="4204599" cy="2655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9"/>
          <p:cNvSpPr txBox="1"/>
          <p:nvPr>
            <p:ph type="title"/>
          </p:nvPr>
        </p:nvSpPr>
        <p:spPr>
          <a:xfrm>
            <a:off x="560075" y="301875"/>
            <a:ext cx="78753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Correlation Between Power Demand and Weather Factors</a:t>
            </a:r>
            <a:endParaRPr sz="3000"/>
          </a:p>
        </p:txBody>
      </p:sp>
      <p:sp>
        <p:nvSpPr>
          <p:cNvPr id="326" name="Google Shape;326;p19"/>
          <p:cNvSpPr txBox="1"/>
          <p:nvPr/>
        </p:nvSpPr>
        <p:spPr>
          <a:xfrm>
            <a:off x="4798275" y="1543050"/>
            <a:ext cx="4119900" cy="3123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FAFAFA"/>
                </a:solidFill>
                <a:latin typeface="Roboto"/>
                <a:ea typeface="Roboto"/>
                <a:cs typeface="Roboto"/>
                <a:sym typeface="Roboto"/>
              </a:rPr>
              <a:t>The correlation heatmap shows that power demand increases with higher temperatures (0.40) and wind speed (0.24). It decreases with higher pressure (-0.39), suggesting that cooler, high-pressure conditions reduce consumption. Humidity has minimal impact on electricity usage</a:t>
            </a:r>
            <a:endParaRPr sz="1600">
              <a:solidFill>
                <a:srgbClr val="FAFAFA"/>
              </a:solidFill>
              <a:latin typeface="Roboto"/>
              <a:ea typeface="Roboto"/>
              <a:cs typeface="Roboto"/>
              <a:sym typeface="Roboto"/>
            </a:endParaRPr>
          </a:p>
          <a:p>
            <a:pPr indent="0" lvl="0" marL="0" rtl="0" algn="l">
              <a:lnSpc>
                <a:spcPct val="115000"/>
              </a:lnSpc>
              <a:spcBef>
                <a:spcPts val="1000"/>
              </a:spcBef>
              <a:spcAft>
                <a:spcPts val="0"/>
              </a:spcAft>
              <a:buNone/>
            </a:pPr>
            <a:r>
              <a:rPr lang="en" sz="1600">
                <a:solidFill>
                  <a:srgbClr val="FAFAFA"/>
                </a:solidFill>
                <a:latin typeface="Roboto"/>
                <a:ea typeface="Roboto"/>
                <a:cs typeface="Roboto"/>
                <a:sym typeface="Roboto"/>
              </a:rPr>
              <a:t>Correlation Insights:</a:t>
            </a:r>
            <a:endParaRPr sz="1600">
              <a:solidFill>
                <a:srgbClr val="FAFAFA"/>
              </a:solidFill>
              <a:latin typeface="Roboto"/>
              <a:ea typeface="Roboto"/>
              <a:cs typeface="Roboto"/>
              <a:sym typeface="Roboto"/>
            </a:endParaRPr>
          </a:p>
          <a:p>
            <a:pPr indent="0" lvl="0" marL="0" rtl="0" algn="l">
              <a:lnSpc>
                <a:spcPct val="115000"/>
              </a:lnSpc>
              <a:spcBef>
                <a:spcPts val="1000"/>
              </a:spcBef>
              <a:spcAft>
                <a:spcPts val="0"/>
              </a:spcAft>
              <a:buNone/>
            </a:pPr>
            <a:r>
              <a:rPr lang="en" sz="1600">
                <a:solidFill>
                  <a:srgbClr val="FAFAFA"/>
                </a:solidFill>
                <a:latin typeface="Roboto"/>
                <a:ea typeface="Roboto"/>
                <a:cs typeface="Roboto"/>
                <a:sym typeface="Roboto"/>
              </a:rPr>
              <a:t>Positive correlation with temperature.</a:t>
            </a:r>
            <a:endParaRPr sz="1600">
              <a:solidFill>
                <a:srgbClr val="FAFAFA"/>
              </a:solidFill>
              <a:latin typeface="Roboto"/>
              <a:ea typeface="Roboto"/>
              <a:cs typeface="Roboto"/>
              <a:sym typeface="Roboto"/>
            </a:endParaRPr>
          </a:p>
          <a:p>
            <a:pPr indent="0" lvl="0" marL="0" rtl="0" algn="l">
              <a:lnSpc>
                <a:spcPct val="115000"/>
              </a:lnSpc>
              <a:spcBef>
                <a:spcPts val="1000"/>
              </a:spcBef>
              <a:spcAft>
                <a:spcPts val="1000"/>
              </a:spcAft>
              <a:buNone/>
            </a:pPr>
            <a:r>
              <a:rPr lang="en" sz="1600">
                <a:solidFill>
                  <a:srgbClr val="FAFAFA"/>
                </a:solidFill>
                <a:latin typeface="Roboto"/>
                <a:ea typeface="Roboto"/>
                <a:cs typeface="Roboto"/>
                <a:sym typeface="Roboto"/>
              </a:rPr>
              <a:t>Negative correlation with pressure.</a:t>
            </a:r>
            <a:endParaRPr sz="1600">
              <a:solidFill>
                <a:srgbClr val="FAFAFA"/>
              </a:solidFill>
              <a:latin typeface="Roboto"/>
              <a:ea typeface="Roboto"/>
              <a:cs typeface="Roboto"/>
              <a:sym typeface="Roboto"/>
            </a:endParaRPr>
          </a:p>
        </p:txBody>
      </p:sp>
      <p:sp>
        <p:nvSpPr>
          <p:cNvPr id="327" name="Google Shape;327;p19"/>
          <p:cNvSpPr txBox="1"/>
          <p:nvPr/>
        </p:nvSpPr>
        <p:spPr>
          <a:xfrm>
            <a:off x="367400" y="1983925"/>
            <a:ext cx="3673800" cy="22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28" name="Google Shape;328;p19" title="heatmap.png"/>
          <p:cNvPicPr preferRelativeResize="0"/>
          <p:nvPr/>
        </p:nvPicPr>
        <p:blipFill>
          <a:blip r:embed="rId3">
            <a:alphaModFix/>
          </a:blip>
          <a:stretch>
            <a:fillRect/>
          </a:stretch>
        </p:blipFill>
        <p:spPr>
          <a:xfrm>
            <a:off x="295550" y="1543050"/>
            <a:ext cx="4349926" cy="32624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20"/>
          <p:cNvPicPr preferRelativeResize="0"/>
          <p:nvPr/>
        </p:nvPicPr>
        <p:blipFill rotWithShape="1">
          <a:blip r:embed="rId3">
            <a:alphaModFix/>
          </a:blip>
          <a:srcRect b="9477" l="0" r="0" t="0"/>
          <a:stretch/>
        </p:blipFill>
        <p:spPr>
          <a:xfrm>
            <a:off x="0" y="0"/>
            <a:ext cx="9144001" cy="5143500"/>
          </a:xfrm>
          <a:prstGeom prst="rect">
            <a:avLst/>
          </a:prstGeom>
          <a:noFill/>
          <a:ln>
            <a:noFill/>
          </a:ln>
        </p:spPr>
      </p:pic>
      <p:sp>
        <p:nvSpPr>
          <p:cNvPr id="334" name="Google Shape;334;p20"/>
          <p:cNvSpPr txBox="1"/>
          <p:nvPr>
            <p:ph type="title"/>
          </p:nvPr>
        </p:nvSpPr>
        <p:spPr>
          <a:xfrm>
            <a:off x="824000" y="763600"/>
            <a:ext cx="5857800" cy="3573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Model Selection - Why SARIMA?</a:t>
            </a:r>
            <a:endParaRPr/>
          </a:p>
          <a:p>
            <a:pPr indent="0" lvl="0" marL="0" rtl="0" algn="l">
              <a:spcBef>
                <a:spcPts val="0"/>
              </a:spcBef>
              <a:spcAft>
                <a:spcPts val="0"/>
              </a:spcAft>
              <a:buNone/>
            </a:pPr>
            <a:r>
              <a:t/>
            </a:r>
            <a:endParaRPr/>
          </a:p>
          <a:p>
            <a:pPr indent="-342900" lvl="0" marL="457200" rtl="0" algn="l">
              <a:spcBef>
                <a:spcPts val="0"/>
              </a:spcBef>
              <a:spcAft>
                <a:spcPts val="0"/>
              </a:spcAft>
              <a:buSzPct val="100000"/>
              <a:buChar char="●"/>
            </a:pPr>
            <a:r>
              <a:rPr b="0" lang="en" sz="2000"/>
              <a:t>Tried multiple models but SARIMA performed best.</a:t>
            </a:r>
            <a:endParaRPr b="0" sz="2000"/>
          </a:p>
          <a:p>
            <a:pPr indent="-342900" lvl="0" marL="457200" rtl="0" algn="l">
              <a:spcBef>
                <a:spcPts val="0"/>
              </a:spcBef>
              <a:spcAft>
                <a:spcPts val="0"/>
              </a:spcAft>
              <a:buSzPct val="100000"/>
              <a:buChar char="●"/>
            </a:pPr>
            <a:r>
              <a:rPr b="0" lang="en" sz="2000"/>
              <a:t>Captures seasonality, trend, and dependencies.</a:t>
            </a:r>
            <a:endParaRPr b="0" sz="2000"/>
          </a:p>
          <a:p>
            <a:pPr indent="-342900" lvl="0" marL="457200" rtl="0" algn="l">
              <a:spcBef>
                <a:spcPts val="0"/>
              </a:spcBef>
              <a:spcAft>
                <a:spcPts val="0"/>
              </a:spcAft>
              <a:buSzPct val="100000"/>
              <a:buChar char="●"/>
            </a:pPr>
            <a:r>
              <a:rPr b="0" lang="en" sz="2000"/>
              <a:t>Hyperparameter tuning using ACF/PACF plots.</a:t>
            </a:r>
            <a:endParaRPr b="0"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nvSpPr>
        <p:spPr>
          <a:xfrm>
            <a:off x="1266575" y="3688600"/>
            <a:ext cx="7009800" cy="12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Nunito"/>
                <a:ea typeface="Nunito"/>
                <a:cs typeface="Nunito"/>
                <a:sym typeface="Nunito"/>
              </a:rPr>
              <a:t>The SARIMA model captures overall trends in power demand but struggles with extreme fluctuations. While it follows the test data pattern, it shows some deviations, especially in high-variance periods. Further tuning or adding external factors may improve accuracy.</a:t>
            </a:r>
            <a:endParaRPr sz="1600">
              <a:solidFill>
                <a:schemeClr val="dk2"/>
              </a:solidFill>
              <a:latin typeface="Nunito"/>
              <a:ea typeface="Nunito"/>
              <a:cs typeface="Nunito"/>
              <a:sym typeface="Nunito"/>
            </a:endParaRPr>
          </a:p>
        </p:txBody>
      </p:sp>
      <p:pic>
        <p:nvPicPr>
          <p:cNvPr id="340" name="Google Shape;340;p21" title="sarima.png"/>
          <p:cNvPicPr preferRelativeResize="0"/>
          <p:nvPr/>
        </p:nvPicPr>
        <p:blipFill>
          <a:blip r:embed="rId3">
            <a:alphaModFix/>
          </a:blip>
          <a:stretch>
            <a:fillRect/>
          </a:stretch>
        </p:blipFill>
        <p:spPr>
          <a:xfrm>
            <a:off x="1072775" y="152400"/>
            <a:ext cx="7289076" cy="353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descr="Overhead shot of young people sitting on a boardwalk" id="345" name="Google Shape;345;p22"/>
          <p:cNvPicPr preferRelativeResize="0"/>
          <p:nvPr/>
        </p:nvPicPr>
        <p:blipFill rotWithShape="1">
          <a:blip r:embed="rId3">
            <a:alphaModFix/>
          </a:blip>
          <a:srcRect b="8063" l="0" r="1254" t="8630"/>
          <a:stretch/>
        </p:blipFill>
        <p:spPr>
          <a:xfrm>
            <a:off x="-30675" y="0"/>
            <a:ext cx="9174677" cy="5143502"/>
          </a:xfrm>
          <a:prstGeom prst="rect">
            <a:avLst/>
          </a:prstGeom>
          <a:noFill/>
          <a:ln>
            <a:noFill/>
          </a:ln>
        </p:spPr>
      </p:pic>
      <p:sp>
        <p:nvSpPr>
          <p:cNvPr id="346" name="Google Shape;346;p22"/>
          <p:cNvSpPr txBox="1"/>
          <p:nvPr>
            <p:ph type="title"/>
          </p:nvPr>
        </p:nvSpPr>
        <p:spPr>
          <a:xfrm>
            <a:off x="490250" y="488250"/>
            <a:ext cx="4439100" cy="4346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3000"/>
              <a:t>Model Performance &amp; Metrics</a:t>
            </a:r>
            <a:endParaRPr sz="3000"/>
          </a:p>
          <a:p>
            <a:pPr indent="-328612" lvl="0" marL="457200" rtl="0" algn="l">
              <a:spcBef>
                <a:spcPts val="1000"/>
              </a:spcBef>
              <a:spcAft>
                <a:spcPts val="0"/>
              </a:spcAft>
              <a:buSzPct val="100000"/>
              <a:buChar char="●"/>
            </a:pPr>
            <a:r>
              <a:rPr b="0" lang="en" sz="1750"/>
              <a:t>MAE: 287,249</a:t>
            </a:r>
            <a:endParaRPr b="0" sz="1750"/>
          </a:p>
          <a:p>
            <a:pPr indent="-328612" lvl="0" marL="457200" rtl="0" algn="l">
              <a:spcBef>
                <a:spcPts val="0"/>
              </a:spcBef>
              <a:spcAft>
                <a:spcPts val="0"/>
              </a:spcAft>
              <a:buSzPct val="100000"/>
              <a:buChar char="●"/>
            </a:pPr>
            <a:r>
              <a:rPr b="0" lang="en" sz="1750"/>
              <a:t>MSE: 139,283,540,200</a:t>
            </a:r>
            <a:endParaRPr b="0" sz="1750"/>
          </a:p>
          <a:p>
            <a:pPr indent="-328612" lvl="0" marL="457200" rtl="0" algn="l">
              <a:spcBef>
                <a:spcPts val="0"/>
              </a:spcBef>
              <a:spcAft>
                <a:spcPts val="0"/>
              </a:spcAft>
              <a:buSzPct val="100000"/>
              <a:buChar char="●"/>
            </a:pPr>
            <a:r>
              <a:rPr b="0" lang="en" sz="1750"/>
              <a:t>RMSE: 373,207</a:t>
            </a:r>
            <a:endParaRPr b="0" sz="1750"/>
          </a:p>
          <a:p>
            <a:pPr indent="-328612" lvl="0" marL="457200" rtl="0" algn="l">
              <a:spcBef>
                <a:spcPts val="0"/>
              </a:spcBef>
              <a:spcAft>
                <a:spcPts val="0"/>
              </a:spcAft>
              <a:buSzPct val="100000"/>
              <a:buChar char="●"/>
            </a:pPr>
            <a:r>
              <a:rPr b="0" lang="en" sz="1750"/>
              <a:t>MAPE: 38.12%</a:t>
            </a:r>
            <a:endParaRPr b="0" sz="1750"/>
          </a:p>
          <a:p>
            <a:pPr indent="0" lvl="0" marL="0" rtl="0" algn="l">
              <a:spcBef>
                <a:spcPts val="1000"/>
              </a:spcBef>
              <a:spcAft>
                <a:spcPts val="1000"/>
              </a:spcAft>
              <a:buNone/>
            </a:pPr>
            <a:r>
              <a:rPr b="0" lang="en" sz="1750"/>
              <a:t>The SARIMAX model resulted in a MAPE of 38.12%, indicating a moderate prediction error. The RMSE of 373,207.10 suggests a significant deviation in power demand forecasting. While this model outperformed other approaches, Despite some error, the model provides valuable insights into electricity demand trends.</a:t>
            </a:r>
            <a:endParaRPr sz="3000"/>
          </a:p>
        </p:txBody>
      </p:sp>
      <p:grpSp>
        <p:nvGrpSpPr>
          <p:cNvPr id="347" name="Google Shape;347;p22"/>
          <p:cNvGrpSpPr/>
          <p:nvPr/>
        </p:nvGrpSpPr>
        <p:grpSpPr>
          <a:xfrm>
            <a:off x="5212394" y="864520"/>
            <a:ext cx="3307407" cy="3307407"/>
            <a:chOff x="5212394" y="864520"/>
            <a:chExt cx="3307407" cy="3307407"/>
          </a:xfrm>
        </p:grpSpPr>
        <p:sp>
          <p:nvSpPr>
            <p:cNvPr id="348" name="Google Shape;348;p22"/>
            <p:cNvSpPr/>
            <p:nvPr/>
          </p:nvSpPr>
          <p:spPr>
            <a:xfrm>
              <a:off x="5212394"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5549484"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5886575"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2"/>
            <p:cNvSpPr/>
            <p:nvPr/>
          </p:nvSpPr>
          <p:spPr>
            <a:xfrm>
              <a:off x="6223663"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6560753"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6897844"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7234932"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7572023"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p:nvPr/>
          </p:nvSpPr>
          <p:spPr>
            <a:xfrm>
              <a:off x="7909113"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8246201" y="86452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5212394"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5549484"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5886575" y="1201621"/>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6223663"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2"/>
            <p:cNvSpPr/>
            <p:nvPr/>
          </p:nvSpPr>
          <p:spPr>
            <a:xfrm>
              <a:off x="6560753"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a:off x="6897844"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7234932"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2"/>
            <p:cNvSpPr/>
            <p:nvPr/>
          </p:nvSpPr>
          <p:spPr>
            <a:xfrm>
              <a:off x="7572023"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7909113"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p:nvPr/>
          </p:nvSpPr>
          <p:spPr>
            <a:xfrm>
              <a:off x="8246201" y="120160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5212394"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5549484"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5886575"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6223663"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6560753"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
            <p:cNvSpPr/>
            <p:nvPr/>
          </p:nvSpPr>
          <p:spPr>
            <a:xfrm>
              <a:off x="6897844"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7234932"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7572023"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7909113"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8246201" y="1538700"/>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5212394"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2"/>
            <p:cNvSpPr/>
            <p:nvPr/>
          </p:nvSpPr>
          <p:spPr>
            <a:xfrm>
              <a:off x="5549484"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5886575"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6223663"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p:nvPr/>
          </p:nvSpPr>
          <p:spPr>
            <a:xfrm>
              <a:off x="6560753"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6897844"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7234932"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7572023"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7909113"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8246201" y="187578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p:nvPr/>
          </p:nvSpPr>
          <p:spPr>
            <a:xfrm>
              <a:off x="5212394"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p:nvPr/>
          </p:nvSpPr>
          <p:spPr>
            <a:xfrm>
              <a:off x="5549484"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p:nvPr/>
          </p:nvSpPr>
          <p:spPr>
            <a:xfrm>
              <a:off x="5886575"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2"/>
            <p:cNvSpPr/>
            <p:nvPr/>
          </p:nvSpPr>
          <p:spPr>
            <a:xfrm>
              <a:off x="6223663"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2"/>
            <p:cNvSpPr/>
            <p:nvPr/>
          </p:nvSpPr>
          <p:spPr>
            <a:xfrm>
              <a:off x="6560753"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p:nvPr/>
          </p:nvSpPr>
          <p:spPr>
            <a:xfrm>
              <a:off x="6897844"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
            <p:cNvSpPr/>
            <p:nvPr/>
          </p:nvSpPr>
          <p:spPr>
            <a:xfrm>
              <a:off x="7234932"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7572023"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p:nvPr/>
          </p:nvSpPr>
          <p:spPr>
            <a:xfrm>
              <a:off x="7909113"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p:nvPr/>
          </p:nvSpPr>
          <p:spPr>
            <a:xfrm>
              <a:off x="8246201" y="2212878"/>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5212394"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5549484"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2"/>
            <p:cNvSpPr/>
            <p:nvPr/>
          </p:nvSpPr>
          <p:spPr>
            <a:xfrm>
              <a:off x="5886575"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p:nvPr/>
          </p:nvSpPr>
          <p:spPr>
            <a:xfrm>
              <a:off x="6223663"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6560753"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p:nvPr/>
          </p:nvSpPr>
          <p:spPr>
            <a:xfrm>
              <a:off x="6897844"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2"/>
            <p:cNvSpPr/>
            <p:nvPr/>
          </p:nvSpPr>
          <p:spPr>
            <a:xfrm>
              <a:off x="7234932"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p:nvPr/>
          </p:nvSpPr>
          <p:spPr>
            <a:xfrm>
              <a:off x="7572023"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2"/>
            <p:cNvSpPr/>
            <p:nvPr/>
          </p:nvSpPr>
          <p:spPr>
            <a:xfrm>
              <a:off x="7909113"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p:nvPr/>
          </p:nvSpPr>
          <p:spPr>
            <a:xfrm>
              <a:off x="8246201" y="2549969"/>
              <a:ext cx="273600" cy="273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2"/>
            <p:cNvSpPr/>
            <p:nvPr/>
          </p:nvSpPr>
          <p:spPr>
            <a:xfrm>
              <a:off x="5212394"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2"/>
            <p:cNvSpPr/>
            <p:nvPr/>
          </p:nvSpPr>
          <p:spPr>
            <a:xfrm>
              <a:off x="5549484"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2"/>
            <p:cNvSpPr/>
            <p:nvPr/>
          </p:nvSpPr>
          <p:spPr>
            <a:xfrm>
              <a:off x="5886575"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2"/>
            <p:cNvSpPr/>
            <p:nvPr/>
          </p:nvSpPr>
          <p:spPr>
            <a:xfrm>
              <a:off x="6223663"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6560753"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6897844"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2"/>
            <p:cNvSpPr/>
            <p:nvPr/>
          </p:nvSpPr>
          <p:spPr>
            <a:xfrm>
              <a:off x="7234932"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2"/>
            <p:cNvSpPr/>
            <p:nvPr/>
          </p:nvSpPr>
          <p:spPr>
            <a:xfrm>
              <a:off x="7572023"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2"/>
            <p:cNvSpPr/>
            <p:nvPr/>
          </p:nvSpPr>
          <p:spPr>
            <a:xfrm>
              <a:off x="7909113"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2"/>
            <p:cNvSpPr/>
            <p:nvPr/>
          </p:nvSpPr>
          <p:spPr>
            <a:xfrm>
              <a:off x="8246201" y="288705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
            <p:cNvSpPr/>
            <p:nvPr/>
          </p:nvSpPr>
          <p:spPr>
            <a:xfrm>
              <a:off x="5212394"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2"/>
            <p:cNvSpPr/>
            <p:nvPr/>
          </p:nvSpPr>
          <p:spPr>
            <a:xfrm>
              <a:off x="5549484"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2"/>
            <p:cNvSpPr/>
            <p:nvPr/>
          </p:nvSpPr>
          <p:spPr>
            <a:xfrm>
              <a:off x="5886575"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
            <p:cNvSpPr/>
            <p:nvPr/>
          </p:nvSpPr>
          <p:spPr>
            <a:xfrm>
              <a:off x="6223663"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
            <p:cNvSpPr/>
            <p:nvPr/>
          </p:nvSpPr>
          <p:spPr>
            <a:xfrm>
              <a:off x="6560753"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2"/>
            <p:cNvSpPr/>
            <p:nvPr/>
          </p:nvSpPr>
          <p:spPr>
            <a:xfrm>
              <a:off x="6897844"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
            <p:cNvSpPr/>
            <p:nvPr/>
          </p:nvSpPr>
          <p:spPr>
            <a:xfrm>
              <a:off x="7234932"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7572023"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2"/>
            <p:cNvSpPr/>
            <p:nvPr/>
          </p:nvSpPr>
          <p:spPr>
            <a:xfrm>
              <a:off x="7909113"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2"/>
            <p:cNvSpPr/>
            <p:nvPr/>
          </p:nvSpPr>
          <p:spPr>
            <a:xfrm>
              <a:off x="8246201" y="322414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p:nvPr/>
          </p:nvSpPr>
          <p:spPr>
            <a:xfrm>
              <a:off x="5212394"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2"/>
            <p:cNvSpPr/>
            <p:nvPr/>
          </p:nvSpPr>
          <p:spPr>
            <a:xfrm>
              <a:off x="5549484"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2"/>
            <p:cNvSpPr/>
            <p:nvPr/>
          </p:nvSpPr>
          <p:spPr>
            <a:xfrm>
              <a:off x="5886575"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a:off x="6223663"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a:off x="6560753"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a:off x="6897844"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a:off x="7234932"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p:nvPr/>
          </p:nvSpPr>
          <p:spPr>
            <a:xfrm>
              <a:off x="7572023"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p:nvPr/>
          </p:nvSpPr>
          <p:spPr>
            <a:xfrm>
              <a:off x="7909113"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p:nvPr/>
          </p:nvSpPr>
          <p:spPr>
            <a:xfrm>
              <a:off x="8246201" y="3561238"/>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2"/>
            <p:cNvSpPr/>
            <p:nvPr/>
          </p:nvSpPr>
          <p:spPr>
            <a:xfrm>
              <a:off x="5212394"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p:nvPr/>
          </p:nvSpPr>
          <p:spPr>
            <a:xfrm>
              <a:off x="5549484"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2"/>
            <p:cNvSpPr/>
            <p:nvPr/>
          </p:nvSpPr>
          <p:spPr>
            <a:xfrm>
              <a:off x="5886575"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p:nvPr/>
          </p:nvSpPr>
          <p:spPr>
            <a:xfrm>
              <a:off x="6223663"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2"/>
            <p:cNvSpPr/>
            <p:nvPr/>
          </p:nvSpPr>
          <p:spPr>
            <a:xfrm>
              <a:off x="6560753"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p:nvPr/>
          </p:nvSpPr>
          <p:spPr>
            <a:xfrm>
              <a:off x="6897844"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2"/>
            <p:cNvSpPr/>
            <p:nvPr/>
          </p:nvSpPr>
          <p:spPr>
            <a:xfrm>
              <a:off x="7234932"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2"/>
            <p:cNvSpPr/>
            <p:nvPr/>
          </p:nvSpPr>
          <p:spPr>
            <a:xfrm>
              <a:off x="7572023"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p:nvPr/>
          </p:nvSpPr>
          <p:spPr>
            <a:xfrm>
              <a:off x="7909113"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2"/>
            <p:cNvSpPr/>
            <p:nvPr/>
          </p:nvSpPr>
          <p:spPr>
            <a:xfrm>
              <a:off x="8246201" y="3898327"/>
              <a:ext cx="273600" cy="27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3"/>
          <p:cNvSpPr txBox="1"/>
          <p:nvPr>
            <p:ph type="title"/>
          </p:nvPr>
        </p:nvSpPr>
        <p:spPr>
          <a:xfrm>
            <a:off x="690700" y="748900"/>
            <a:ext cx="7289100" cy="79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Key Challenges &amp; Recommendations</a:t>
            </a:r>
            <a:endParaRPr sz="3000"/>
          </a:p>
        </p:txBody>
      </p:sp>
      <p:sp>
        <p:nvSpPr>
          <p:cNvPr id="453" name="Google Shape;453;p23"/>
          <p:cNvSpPr txBox="1"/>
          <p:nvPr/>
        </p:nvSpPr>
        <p:spPr>
          <a:xfrm>
            <a:off x="867050" y="1572450"/>
            <a:ext cx="6774600" cy="30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lt1"/>
                </a:solidFill>
                <a:latin typeface="Nunito"/>
                <a:ea typeface="Nunito"/>
                <a:cs typeface="Nunito"/>
                <a:sym typeface="Nunito"/>
              </a:rPr>
              <a:t>Challenges Identified:</a:t>
            </a:r>
            <a:endParaRPr sz="1600">
              <a:solidFill>
                <a:schemeClr val="lt1"/>
              </a:solidFill>
              <a:latin typeface="Nunito"/>
              <a:ea typeface="Nunito"/>
              <a:cs typeface="Nunito"/>
              <a:sym typeface="Nunito"/>
            </a:endParaRPr>
          </a:p>
          <a:p>
            <a:pPr indent="0" lvl="0" marL="0" rtl="0" algn="l">
              <a:lnSpc>
                <a:spcPct val="115000"/>
              </a:lnSpc>
              <a:spcBef>
                <a:spcPts val="0"/>
              </a:spcBef>
              <a:spcAft>
                <a:spcPts val="0"/>
              </a:spcAft>
              <a:buNone/>
            </a:pPr>
            <a:r>
              <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Frequent Power Demand Spikes: The data shows abrupt spikes, possibly due to inconsistent energy usage or external factors.</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Zero Power Demand Issues: Repeated instances of zero values suggest potential power outages, data collection issues, or system failures.</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Data Insufficiency: More granular details like consumer category (residential vs. industrial) or time-based energy policies could improve forecasting accuracy.</a:t>
            </a:r>
            <a:endParaRPr sz="1600">
              <a:solidFill>
                <a:schemeClr val="lt1"/>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4"/>
          <p:cNvSpPr txBox="1"/>
          <p:nvPr/>
        </p:nvSpPr>
        <p:spPr>
          <a:xfrm>
            <a:off x="881750" y="1263825"/>
            <a:ext cx="6774600" cy="30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lt1"/>
                </a:solidFill>
                <a:latin typeface="Nunito"/>
                <a:ea typeface="Nunito"/>
                <a:cs typeface="Nunito"/>
                <a:sym typeface="Nunito"/>
              </a:rPr>
              <a:t>Recommendations:</a:t>
            </a:r>
            <a:endParaRPr sz="1600">
              <a:solidFill>
                <a:schemeClr val="lt1"/>
              </a:solidFill>
              <a:latin typeface="Nunito"/>
              <a:ea typeface="Nunito"/>
              <a:cs typeface="Nunito"/>
              <a:sym typeface="Nunito"/>
            </a:endParaRPr>
          </a:p>
          <a:p>
            <a:pPr indent="0" lvl="0" marL="0" rtl="0" algn="l">
              <a:lnSpc>
                <a:spcPct val="115000"/>
              </a:lnSpc>
              <a:spcBef>
                <a:spcPts val="0"/>
              </a:spcBef>
              <a:spcAft>
                <a:spcPts val="0"/>
              </a:spcAft>
              <a:buNone/>
            </a:pPr>
            <a:r>
              <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Investigate the cause of power spikes and implement anomaly detection for better insights.</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Analyze regions with zero demand to determine whether power outages or sensor failures are causing data gaps.</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Collect additional variables, such as grid load data or economic activity, to refine forecasting accuracy.</a:t>
            </a:r>
            <a:endParaRPr sz="1600">
              <a:solidFill>
                <a:schemeClr val="lt1"/>
              </a:solidFill>
              <a:latin typeface="Nunito"/>
              <a:ea typeface="Nunito"/>
              <a:cs typeface="Nunito"/>
              <a:sym typeface="Nunito"/>
            </a:endParaRPr>
          </a:p>
          <a:p>
            <a:pPr indent="-330200" lvl="0" marL="457200" rtl="0" algn="l">
              <a:lnSpc>
                <a:spcPct val="115000"/>
              </a:lnSpc>
              <a:spcBef>
                <a:spcPts val="0"/>
              </a:spcBef>
              <a:spcAft>
                <a:spcPts val="0"/>
              </a:spcAft>
              <a:buClr>
                <a:schemeClr val="lt1"/>
              </a:buClr>
              <a:buSzPts val="1600"/>
              <a:buFont typeface="Nunito"/>
              <a:buChar char="●"/>
            </a:pPr>
            <a:r>
              <a:rPr lang="en" sz="1600">
                <a:solidFill>
                  <a:schemeClr val="lt1"/>
                </a:solidFill>
                <a:latin typeface="Nunito"/>
                <a:ea typeface="Nunito"/>
                <a:cs typeface="Nunito"/>
                <a:sym typeface="Nunito"/>
              </a:rPr>
              <a:t>Consider real-time data processing to improve demand prediction and grid stability.</a:t>
            </a:r>
            <a:endParaRPr sz="1600">
              <a:solidFill>
                <a:schemeClr val="lt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2" name="Shape 462"/>
        <p:cNvGrpSpPr/>
        <p:nvPr/>
      </p:nvGrpSpPr>
      <p:grpSpPr>
        <a:xfrm>
          <a:off x="0" y="0"/>
          <a:ext cx="0" cy="0"/>
          <a:chOff x="0" y="0"/>
          <a:chExt cx="0" cy="0"/>
        </a:xfrm>
      </p:grpSpPr>
      <p:grpSp>
        <p:nvGrpSpPr>
          <p:cNvPr id="463" name="Google Shape;463;p25"/>
          <p:cNvGrpSpPr/>
          <p:nvPr/>
        </p:nvGrpSpPr>
        <p:grpSpPr>
          <a:xfrm>
            <a:off x="7538905" y="3521369"/>
            <a:ext cx="1352918" cy="1374304"/>
            <a:chOff x="4048005" y="2037069"/>
            <a:chExt cx="1352918" cy="1374304"/>
          </a:xfrm>
        </p:grpSpPr>
        <p:sp>
          <p:nvSpPr>
            <p:cNvPr id="464" name="Google Shape;464;p25"/>
            <p:cNvSpPr/>
            <p:nvPr/>
          </p:nvSpPr>
          <p:spPr>
            <a:xfrm>
              <a:off x="4048005" y="2644273"/>
              <a:ext cx="767100" cy="767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rgbClr val="595959"/>
                </a:solidFill>
                <a:latin typeface="Montserrat"/>
                <a:ea typeface="Montserrat"/>
                <a:cs typeface="Montserrat"/>
                <a:sym typeface="Montserrat"/>
              </a:endParaRPr>
            </a:p>
          </p:txBody>
        </p:sp>
        <p:sp>
          <p:nvSpPr>
            <p:cNvPr id="465" name="Google Shape;465;p25"/>
            <p:cNvSpPr/>
            <p:nvPr/>
          </p:nvSpPr>
          <p:spPr>
            <a:xfrm>
              <a:off x="4633823" y="2644273"/>
              <a:ext cx="767100" cy="767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rgbClr val="595959"/>
                </a:solidFill>
                <a:latin typeface="Montserrat"/>
                <a:ea typeface="Montserrat"/>
                <a:cs typeface="Montserrat"/>
                <a:sym typeface="Montserrat"/>
              </a:endParaRPr>
            </a:p>
          </p:txBody>
        </p:sp>
        <p:sp>
          <p:nvSpPr>
            <p:cNvPr id="466" name="Google Shape;466;p25"/>
            <p:cNvSpPr/>
            <p:nvPr/>
          </p:nvSpPr>
          <p:spPr>
            <a:xfrm>
              <a:off x="4048005" y="2037069"/>
              <a:ext cx="767100" cy="767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rgbClr val="595959"/>
                </a:solidFill>
                <a:latin typeface="Montserrat"/>
                <a:ea typeface="Montserrat"/>
                <a:cs typeface="Montserrat"/>
                <a:sym typeface="Montserrat"/>
              </a:endParaRPr>
            </a:p>
          </p:txBody>
        </p:sp>
        <p:sp>
          <p:nvSpPr>
            <p:cNvPr id="467" name="Google Shape;467;p25"/>
            <p:cNvSpPr/>
            <p:nvPr/>
          </p:nvSpPr>
          <p:spPr>
            <a:xfrm>
              <a:off x="4633823" y="2037069"/>
              <a:ext cx="767100" cy="767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rgbClr val="595959"/>
                </a:solidFill>
                <a:latin typeface="Montserrat"/>
                <a:ea typeface="Montserrat"/>
                <a:cs typeface="Montserrat"/>
                <a:sym typeface="Montserrat"/>
              </a:endParaRPr>
            </a:p>
          </p:txBody>
        </p:sp>
        <p:sp>
          <p:nvSpPr>
            <p:cNvPr id="468" name="Google Shape;468;p25"/>
            <p:cNvSpPr/>
            <p:nvPr/>
          </p:nvSpPr>
          <p:spPr>
            <a:xfrm>
              <a:off x="4319597" y="2300694"/>
              <a:ext cx="767100" cy="767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rgbClr val="595959"/>
                </a:solidFill>
                <a:latin typeface="Montserrat"/>
                <a:ea typeface="Montserrat"/>
                <a:cs typeface="Montserrat"/>
                <a:sym typeface="Montserrat"/>
              </a:endParaRPr>
            </a:p>
          </p:txBody>
        </p:sp>
      </p:grpSp>
      <p:sp>
        <p:nvSpPr>
          <p:cNvPr id="469" name="Google Shape;469;p25"/>
          <p:cNvSpPr txBox="1"/>
          <p:nvPr/>
        </p:nvSpPr>
        <p:spPr>
          <a:xfrm>
            <a:off x="1441800" y="1081775"/>
            <a:ext cx="6260400" cy="24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chemeClr val="dk2"/>
                </a:solidFill>
                <a:latin typeface="Maven Pro ExtraBold"/>
                <a:ea typeface="Maven Pro ExtraBold"/>
                <a:cs typeface="Maven Pro ExtraBold"/>
                <a:sym typeface="Maven Pro ExtraBold"/>
              </a:rPr>
              <a:t>Thank You</a:t>
            </a:r>
            <a:endParaRPr sz="5000">
              <a:solidFill>
                <a:schemeClr val="dk2"/>
              </a:solidFill>
              <a:latin typeface="Maven Pro ExtraBold"/>
              <a:ea typeface="Maven Pro ExtraBold"/>
              <a:cs typeface="Maven Pro ExtraBold"/>
              <a:sym typeface="Maven Pro ExtraBold"/>
            </a:endParaRPr>
          </a:p>
          <a:p>
            <a:pPr indent="0" lvl="0" marL="0" rtl="0" algn="ctr">
              <a:spcBef>
                <a:spcPts val="0"/>
              </a:spcBef>
              <a:spcAft>
                <a:spcPts val="0"/>
              </a:spcAft>
              <a:buNone/>
            </a:pPr>
            <a:r>
              <a:t/>
            </a:r>
            <a:endParaRPr sz="5000">
              <a:solidFill>
                <a:schemeClr val="dk2"/>
              </a:solidFill>
              <a:latin typeface="Maven Pro ExtraBold"/>
              <a:ea typeface="Maven Pro ExtraBold"/>
              <a:cs typeface="Maven Pro ExtraBold"/>
              <a:sym typeface="Maven Pro ExtraBold"/>
            </a:endParaRPr>
          </a:p>
          <a:p>
            <a:pPr indent="0" lvl="0" marL="0" rtl="0" algn="ctr">
              <a:spcBef>
                <a:spcPts val="0"/>
              </a:spcBef>
              <a:spcAft>
                <a:spcPts val="0"/>
              </a:spcAft>
              <a:buNone/>
            </a:pPr>
            <a:r>
              <a:rPr lang="en" sz="1800">
                <a:solidFill>
                  <a:schemeClr val="dk2"/>
                </a:solidFill>
                <a:latin typeface="Maven Pro ExtraBold"/>
                <a:ea typeface="Maven Pro ExtraBold"/>
                <a:cs typeface="Maven Pro ExtraBold"/>
                <a:sym typeface="Maven Pro ExtraBold"/>
              </a:rPr>
              <a:t>Contact Details:</a:t>
            </a:r>
            <a:endParaRPr sz="1800">
              <a:solidFill>
                <a:schemeClr val="dk2"/>
              </a:solidFill>
              <a:latin typeface="Maven Pro ExtraBold"/>
              <a:ea typeface="Maven Pro ExtraBold"/>
              <a:cs typeface="Maven Pro ExtraBold"/>
              <a:sym typeface="Maven Pro ExtraBold"/>
            </a:endParaRPr>
          </a:p>
          <a:p>
            <a:pPr indent="0" lvl="0" marL="0" rtl="0" algn="ctr">
              <a:spcBef>
                <a:spcPts val="0"/>
              </a:spcBef>
              <a:spcAft>
                <a:spcPts val="0"/>
              </a:spcAft>
              <a:buNone/>
            </a:pPr>
            <a:r>
              <a:rPr lang="en" sz="1800" u="sng">
                <a:solidFill>
                  <a:schemeClr val="dk2"/>
                </a:solidFill>
                <a:latin typeface="Maven Pro"/>
                <a:ea typeface="Maven Pro"/>
                <a:cs typeface="Maven Pro"/>
                <a:sym typeface="Maven Pro"/>
              </a:rPr>
              <a:t>dhwanizala25@gmail.com</a:t>
            </a:r>
            <a:endParaRPr sz="1800" u="sng">
              <a:solidFill>
                <a:schemeClr val="dk2"/>
              </a:solidFill>
              <a:latin typeface="Maven Pro"/>
              <a:ea typeface="Maven Pro"/>
              <a:cs typeface="Maven Pro"/>
              <a:sym typeface="Maven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